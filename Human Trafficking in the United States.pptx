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4" d="100"/>
          <a:sy n="84" d="100"/>
        </p:scale>
        <p:origin x="120" y="10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CE3AFA-075B-4F08-AB39-CEA8B08824A0}" type="datetimeFigureOut">
              <a:rPr lang="en-US" smtClean="0"/>
              <a:t>3/7/2021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CAE3F5-59EF-4BEE-BCAD-119B8AC0EC94}" type="slidenum">
              <a:rPr lang="en-US" smtClean="0"/>
              <a:t>‹#›</a:t>
            </a:fld>
            <a:endParaRPr lang="en-US"/>
          </a:p>
        </p:txBody>
      </p:sp>
    </p:spTree>
    <p:extLst>
      <p:ext uri="{BB962C8B-B14F-4D97-AF65-F5344CB8AC3E}">
        <p14:creationId xmlns:p14="http://schemas.microsoft.com/office/powerpoint/2010/main" val="204578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54951-84CB-44DD-9B99-D11C6EB2C0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678ED9-E705-484B-8987-1ECAC07EFE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51135D-89F2-4DF0-9A1B-080BE0312392}"/>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5" name="Footer Placeholder 4">
            <a:extLst>
              <a:ext uri="{FF2B5EF4-FFF2-40B4-BE49-F238E27FC236}">
                <a16:creationId xmlns:a16="http://schemas.microsoft.com/office/drawing/2014/main" id="{A5895FF4-1CD0-4B95-BFBD-5105FB4977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BEDE2-F214-4334-850C-F961BD5E2485}"/>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499949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663E5-3436-4824-8A89-FD07B5AE62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D60F80-B0CE-4E74-ACA2-07E8623C62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BDF492-A931-42F2-94DD-EE24EF926CE9}"/>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5" name="Footer Placeholder 4">
            <a:extLst>
              <a:ext uri="{FF2B5EF4-FFF2-40B4-BE49-F238E27FC236}">
                <a16:creationId xmlns:a16="http://schemas.microsoft.com/office/drawing/2014/main" id="{9F7714ED-F111-403D-BC25-5B321A2735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6C7EEC-8E8B-4CA0-BE9C-701E3597E56E}"/>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3393839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2EDCD-B33D-4B02-AEAA-E9FFED5355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10B634-37B6-4DF4-919E-55270671EC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3EFE7F-3A5D-460B-88C2-389E036B7300}"/>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5" name="Footer Placeholder 4">
            <a:extLst>
              <a:ext uri="{FF2B5EF4-FFF2-40B4-BE49-F238E27FC236}">
                <a16:creationId xmlns:a16="http://schemas.microsoft.com/office/drawing/2014/main" id="{88006D81-A102-49A1-9852-DA7722801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FA5D3B-05D3-43A7-9C97-7AB6D14F0632}"/>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1514088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3DD13-BE8F-4EEC-86C8-7D8324616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AB22E3-F955-4859-96DF-27703A7647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8221AA-0459-4254-9F05-8B6E15B562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DEA9FC-2F2B-4425-874E-9095B9F5D80C}"/>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6" name="Footer Placeholder 5">
            <a:extLst>
              <a:ext uri="{FF2B5EF4-FFF2-40B4-BE49-F238E27FC236}">
                <a16:creationId xmlns:a16="http://schemas.microsoft.com/office/drawing/2014/main" id="{51CB614D-BCB1-4220-B1EB-75674BBAAE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61BDDF-4ECB-4903-9308-224734522C55}"/>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999935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C246-FB15-4563-9CA6-D540AFAE38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CCF99E-3691-489B-910B-F1A0D320EE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07B5D1-EECE-4201-92E3-958C8D4BC6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73F609-D787-4E1B-B950-B4AD60A610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51A1E7-4966-40F9-B95C-66139A492B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1556E0-9B10-443F-9559-E0AFD2130F19}"/>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8" name="Footer Placeholder 7">
            <a:extLst>
              <a:ext uri="{FF2B5EF4-FFF2-40B4-BE49-F238E27FC236}">
                <a16:creationId xmlns:a16="http://schemas.microsoft.com/office/drawing/2014/main" id="{B991F34A-F09C-4082-86AB-3D4746D700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4AD755-ECB7-4545-A0A0-A39BDB0F3F07}"/>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1617015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925B5-0DD6-4F73-A649-DB5BB8100F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C91E1-54DC-4E80-AE6E-B39F14F6F497}"/>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4" name="Footer Placeholder 3">
            <a:extLst>
              <a:ext uri="{FF2B5EF4-FFF2-40B4-BE49-F238E27FC236}">
                <a16:creationId xmlns:a16="http://schemas.microsoft.com/office/drawing/2014/main" id="{21518AC4-ECA9-4A89-893E-182D00C794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3B6269-88BF-4F55-8941-650B879ED694}"/>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2592817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AE1C59-22B8-4BEC-A526-26379E195D87}"/>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3" name="Footer Placeholder 2">
            <a:extLst>
              <a:ext uri="{FF2B5EF4-FFF2-40B4-BE49-F238E27FC236}">
                <a16:creationId xmlns:a16="http://schemas.microsoft.com/office/drawing/2014/main" id="{6A2BA28E-E6B3-4FFA-A1E1-1D3D7BF584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5D63BE-EDBC-48E3-9614-CF6D1EA0991E}"/>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3330854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D6BA-D03B-4737-A2E6-EB4C76798F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2256DA-1161-4AE5-8609-4894D74451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94E4E-13CA-4716-91EE-6679FF10E5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CC8009-70FF-47B1-AA73-86ED99B9CF41}"/>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6" name="Footer Placeholder 5">
            <a:extLst>
              <a:ext uri="{FF2B5EF4-FFF2-40B4-BE49-F238E27FC236}">
                <a16:creationId xmlns:a16="http://schemas.microsoft.com/office/drawing/2014/main" id="{C0CDEE79-E894-47AA-8865-38E87458D1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0653ED-DFF6-4F24-A5DE-5E58B1037524}"/>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3917262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463F3-CB0C-4636-AFDB-BB7F4CF2BF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0EEB48-8E17-480B-9664-D29D56A965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542BB2-97B3-4BC7-B27E-8DC15EB8A3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A522E5-1BA8-4081-815D-83C191132BFC}"/>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6" name="Footer Placeholder 5">
            <a:extLst>
              <a:ext uri="{FF2B5EF4-FFF2-40B4-BE49-F238E27FC236}">
                <a16:creationId xmlns:a16="http://schemas.microsoft.com/office/drawing/2014/main" id="{3E6B8845-2033-4E74-AA79-72A012AEE2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DF6348-F651-4FA7-A638-5F91B3AC11B4}"/>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2749635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C7D0A-0410-4B04-9E43-262B38686C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69CAF5-2D45-493A-9BBE-2CCCF6193F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DDAF73-DAF5-4D1E-ADE6-5DDF436DD1D0}"/>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5" name="Footer Placeholder 4">
            <a:extLst>
              <a:ext uri="{FF2B5EF4-FFF2-40B4-BE49-F238E27FC236}">
                <a16:creationId xmlns:a16="http://schemas.microsoft.com/office/drawing/2014/main" id="{78B962C2-E8E0-4002-ADA0-6075E8F2B5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A51AA1-088E-4FE9-91CD-EB60FAF8D49A}"/>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533806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D1CDA9-3D73-4443-B77A-590CB5AD32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1E993C-EDF0-49AA-AA41-9A76D1E4C2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63373C-CCB5-4DB6-85F9-6CC6682FA85C}"/>
              </a:ext>
            </a:extLst>
          </p:cNvPr>
          <p:cNvSpPr>
            <a:spLocks noGrp="1"/>
          </p:cNvSpPr>
          <p:nvPr>
            <p:ph type="dt" sz="half" idx="10"/>
          </p:nvPr>
        </p:nvSpPr>
        <p:spPr/>
        <p:txBody>
          <a:bodyPr/>
          <a:lstStyle/>
          <a:p>
            <a:fld id="{B61A93D1-C817-473C-A113-983D418D79D4}" type="datetimeFigureOut">
              <a:rPr lang="en-US" smtClean="0"/>
              <a:t>3/7/2021</a:t>
            </a:fld>
            <a:endParaRPr lang="en-US"/>
          </a:p>
        </p:txBody>
      </p:sp>
      <p:sp>
        <p:nvSpPr>
          <p:cNvPr id="5" name="Footer Placeholder 4">
            <a:extLst>
              <a:ext uri="{FF2B5EF4-FFF2-40B4-BE49-F238E27FC236}">
                <a16:creationId xmlns:a16="http://schemas.microsoft.com/office/drawing/2014/main" id="{F522A514-4F22-42DB-845A-1EB2607272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251E40-FFDB-46B2-92D1-279A8391B529}"/>
              </a:ext>
            </a:extLst>
          </p:cNvPr>
          <p:cNvSpPr>
            <a:spLocks noGrp="1"/>
          </p:cNvSpPr>
          <p:nvPr>
            <p:ph type="sldNum" sz="quarter" idx="12"/>
          </p:nvPr>
        </p:nvSpPr>
        <p:spPr/>
        <p:txBody>
          <a:bodyPr/>
          <a:lstStyle/>
          <a:p>
            <a:fld id="{66EDBD0B-CB8A-435A-B549-E4C18B820428}" type="slidenum">
              <a:rPr lang="en-US" smtClean="0"/>
              <a:t>‹#›</a:t>
            </a:fld>
            <a:endParaRPr lang="en-US"/>
          </a:p>
        </p:txBody>
      </p:sp>
    </p:spTree>
    <p:extLst>
      <p:ext uri="{BB962C8B-B14F-4D97-AF65-F5344CB8AC3E}">
        <p14:creationId xmlns:p14="http://schemas.microsoft.com/office/powerpoint/2010/main" val="3531278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109028-B713-42A4-A90A-42E1400457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A66993-CEBD-4EA1-A0D8-7F30F2D9F2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3BFD3-5881-4035-95AB-9C1A2E175A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A93D1-C817-473C-A113-983D418D79D4}" type="datetimeFigureOut">
              <a:rPr lang="en-US" smtClean="0"/>
              <a:t>3/7/2021</a:t>
            </a:fld>
            <a:endParaRPr lang="en-US"/>
          </a:p>
        </p:txBody>
      </p:sp>
      <p:sp>
        <p:nvSpPr>
          <p:cNvPr id="5" name="Footer Placeholder 4">
            <a:extLst>
              <a:ext uri="{FF2B5EF4-FFF2-40B4-BE49-F238E27FC236}">
                <a16:creationId xmlns:a16="http://schemas.microsoft.com/office/drawing/2014/main" id="{08255E73-F829-4B86-9E5C-AD77D30428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27402B4-37E9-45B9-A797-940AD2643B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DBD0B-CB8A-435A-B549-E4C18B820428}" type="slidenum">
              <a:rPr lang="en-US" smtClean="0"/>
              <a:t>‹#›</a:t>
            </a:fld>
            <a:endParaRPr lang="en-US"/>
          </a:p>
        </p:txBody>
      </p:sp>
    </p:spTree>
    <p:extLst>
      <p:ext uri="{BB962C8B-B14F-4D97-AF65-F5344CB8AC3E}">
        <p14:creationId xmlns:p14="http://schemas.microsoft.com/office/powerpoint/2010/main" val="1599203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CF5E676-CA04-4CED-9F1E-5026ED66E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2833068" cy="2997599"/>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2" name="Freeform: Shape 11">
            <a:extLst>
              <a:ext uri="{FF2B5EF4-FFF2-40B4-BE49-F238E27FC236}">
                <a16:creationId xmlns:a16="http://schemas.microsoft.com/office/drawing/2014/main" id="{AFD1189F-9598-4281-8056-2845388D4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3068" cy="2997599"/>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4" name="Freeform: Shape 13">
            <a:extLst>
              <a:ext uri="{FF2B5EF4-FFF2-40B4-BE49-F238E27FC236}">
                <a16:creationId xmlns:a16="http://schemas.microsoft.com/office/drawing/2014/main" id="{583E04E1-D74F-4ED6-972C-035F4FEC4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Rectangle 17">
            <a:extLst>
              <a:ext uri="{FF2B5EF4-FFF2-40B4-BE49-F238E27FC236}">
                <a16:creationId xmlns:a16="http://schemas.microsoft.com/office/drawing/2014/main" id="{E51A97D9-C694-4307-818B-0C5BBF413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21053" y="819446"/>
            <a:ext cx="6964685" cy="5402463"/>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21053" y="819446"/>
            <a:ext cx="6964685" cy="5402463"/>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DE96824-E506-4448-8704-5EC7BF7BC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13658" y="727769"/>
            <a:ext cx="6964685" cy="5402463"/>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AFDD44-FC29-49F7-823C-A14C6CB0BD71}"/>
              </a:ext>
            </a:extLst>
          </p:cNvPr>
          <p:cNvSpPr>
            <a:spLocks noGrp="1"/>
          </p:cNvSpPr>
          <p:nvPr>
            <p:ph type="ctrTitle"/>
          </p:nvPr>
        </p:nvSpPr>
        <p:spPr>
          <a:xfrm>
            <a:off x="2886765" y="1495956"/>
            <a:ext cx="6418471" cy="2692050"/>
          </a:xfrm>
        </p:spPr>
        <p:txBody>
          <a:bodyPr>
            <a:normAutofit/>
          </a:bodyPr>
          <a:lstStyle/>
          <a:p>
            <a:r>
              <a:rPr lang="en-US" sz="5400">
                <a:solidFill>
                  <a:schemeClr val="bg1"/>
                </a:solidFill>
              </a:rPr>
              <a:t>Human Trafficking in the United States</a:t>
            </a:r>
          </a:p>
        </p:txBody>
      </p:sp>
      <p:sp>
        <p:nvSpPr>
          <p:cNvPr id="3" name="Subtitle 2">
            <a:extLst>
              <a:ext uri="{FF2B5EF4-FFF2-40B4-BE49-F238E27FC236}">
                <a16:creationId xmlns:a16="http://schemas.microsoft.com/office/drawing/2014/main" id="{69B1C8C9-4F8A-45DD-9F37-847818B04166}"/>
              </a:ext>
            </a:extLst>
          </p:cNvPr>
          <p:cNvSpPr>
            <a:spLocks noGrp="1"/>
          </p:cNvSpPr>
          <p:nvPr>
            <p:ph type="subTitle" idx="1"/>
          </p:nvPr>
        </p:nvSpPr>
        <p:spPr>
          <a:xfrm>
            <a:off x="2886765" y="4414123"/>
            <a:ext cx="6418471" cy="1017915"/>
          </a:xfrm>
        </p:spPr>
        <p:txBody>
          <a:bodyPr>
            <a:normAutofit/>
          </a:bodyPr>
          <a:lstStyle/>
          <a:p>
            <a:r>
              <a:rPr lang="en-US" sz="1600">
                <a:solidFill>
                  <a:schemeClr val="bg1"/>
                </a:solidFill>
              </a:rPr>
              <a:t>Shakespeare Jean Gilles</a:t>
            </a:r>
          </a:p>
          <a:p>
            <a:r>
              <a:rPr lang="en-US" sz="1600">
                <a:solidFill>
                  <a:schemeClr val="bg1"/>
                </a:solidFill>
              </a:rPr>
              <a:t>Bellevue University – MS Data Science</a:t>
            </a:r>
          </a:p>
          <a:p>
            <a:r>
              <a:rPr lang="en-US" sz="1600">
                <a:solidFill>
                  <a:schemeClr val="bg1"/>
                </a:solidFill>
              </a:rPr>
              <a:t>Data Exploration and Analysis</a:t>
            </a:r>
          </a:p>
        </p:txBody>
      </p:sp>
      <p:sp>
        <p:nvSpPr>
          <p:cNvPr id="24" name="Freeform: Shape 23">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776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dirty="0"/>
          </a:p>
        </p:txBody>
      </p:sp>
      <p:sp>
        <p:nvSpPr>
          <p:cNvPr id="26" name="Graphic 212">
            <a:extLst>
              <a:ext uri="{FF2B5EF4-FFF2-40B4-BE49-F238E27FC236}">
                <a16:creationId xmlns:a16="http://schemas.microsoft.com/office/drawing/2014/main" id="{4FB204DF-284E-45F6-A017-79A4DF57B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75326" y="343675"/>
            <a:ext cx="768186" cy="76818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8" name="Graphic 212">
            <a:extLst>
              <a:ext uri="{FF2B5EF4-FFF2-40B4-BE49-F238E27FC236}">
                <a16:creationId xmlns:a16="http://schemas.microsoft.com/office/drawing/2014/main" id="{5EC6B544-8C84-47A6-885D-A4F09EF5C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75326" y="343675"/>
            <a:ext cx="768186" cy="76818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0" name="Freeform: Shape 29">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6750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dirty="0"/>
          </a:p>
        </p:txBody>
      </p:sp>
      <p:sp>
        <p:nvSpPr>
          <p:cNvPr id="32" name="Oval 31">
            <a:extLst>
              <a:ext uri="{FF2B5EF4-FFF2-40B4-BE49-F238E27FC236}">
                <a16:creationId xmlns:a16="http://schemas.microsoft.com/office/drawing/2014/main" id="{32C95C5C-6FBD-47FF-9CA6-066193539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7140" y="5100276"/>
            <a:ext cx="515928" cy="515928"/>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4" name="Oval 33">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7140" y="5100276"/>
            <a:ext cx="515928" cy="51592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6"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37" name="Freeform: Shape 36">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907772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2" name="Freeform: Shape 11">
            <a:extLst>
              <a:ext uri="{FF2B5EF4-FFF2-40B4-BE49-F238E27FC236}">
                <a16:creationId xmlns:a16="http://schemas.microsoft.com/office/drawing/2014/main" id="{31CE7A08-2184-4B99-ABC0-B40CD1D3F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4" name="Freeform: Shape 13">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2552FC29-9118-466F-940E-80C84EFDF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 name="Content Placeholder 2">
            <a:extLst>
              <a:ext uri="{FF2B5EF4-FFF2-40B4-BE49-F238E27FC236}">
                <a16:creationId xmlns:a16="http://schemas.microsoft.com/office/drawing/2014/main" id="{D5FE20AB-AD17-46FB-B6B2-78502C7EC83F}"/>
              </a:ext>
            </a:extLst>
          </p:cNvPr>
          <p:cNvSpPr>
            <a:spLocks noGrp="1"/>
          </p:cNvSpPr>
          <p:nvPr>
            <p:ph idx="1"/>
          </p:nvPr>
        </p:nvSpPr>
        <p:spPr>
          <a:xfrm>
            <a:off x="5211448" y="706508"/>
            <a:ext cx="5217173" cy="4351338"/>
          </a:xfrm>
        </p:spPr>
        <p:txBody>
          <a:bodyPr>
            <a:normAutofit/>
          </a:bodyPr>
          <a:lstStyle/>
          <a:p>
            <a:pPr marL="0" indent="0">
              <a:buNone/>
            </a:pPr>
            <a:r>
              <a:rPr lang="en-US" sz="2200">
                <a:solidFill>
                  <a:schemeClr val="bg1"/>
                </a:solidFill>
              </a:rPr>
              <a:t>Human trafficking has been throughout human history a ubiquitous scourge. While slavery—in its traditional sense—may seem a thing of the past, millions of people however still fall victim to abuse, bondage, forced labor, sexual exploitation, etc. Even in developed countries like the United States, the issue of human trafficking remains a problem of major significance. In this project, we aim to discover trends and gain insights on the problem in the United States by analyzing the latest available data and responding to a specific set of questions. </a:t>
            </a:r>
          </a:p>
        </p:txBody>
      </p:sp>
      <p:grpSp>
        <p:nvGrpSpPr>
          <p:cNvPr id="22"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3" name="Freeform: Shape 22">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72768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1465A0-63BF-42D3-83E3-344F8AE64CE8}"/>
              </a:ext>
            </a:extLst>
          </p:cNvPr>
          <p:cNvSpPr>
            <a:spLocks noGrp="1"/>
          </p:cNvSpPr>
          <p:nvPr>
            <p:ph type="title"/>
          </p:nvPr>
        </p:nvSpPr>
        <p:spPr>
          <a:xfrm>
            <a:off x="838200" y="1748452"/>
            <a:ext cx="4974771" cy="3587786"/>
          </a:xfrm>
        </p:spPr>
        <p:txBody>
          <a:bodyPr>
            <a:normAutofit/>
          </a:bodyPr>
          <a:lstStyle/>
          <a:p>
            <a:pPr algn="ctr"/>
            <a:r>
              <a:rPr lang="en-US">
                <a:solidFill>
                  <a:schemeClr val="bg1"/>
                </a:solidFill>
              </a:rPr>
              <a:t>Questions</a:t>
            </a:r>
          </a:p>
        </p:txBody>
      </p:sp>
      <p:grpSp>
        <p:nvGrpSpPr>
          <p:cNvPr id="2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23" name="Freeform: Shape 2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3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31" name="Freeform: Shape 3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20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202" name="Freeform: Shape 20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13" name="Content Placeholder 12">
            <a:extLst>
              <a:ext uri="{FF2B5EF4-FFF2-40B4-BE49-F238E27FC236}">
                <a16:creationId xmlns:a16="http://schemas.microsoft.com/office/drawing/2014/main" id="{6E6E33B0-C787-4123-A13E-31061E1AAD4C}"/>
              </a:ext>
            </a:extLst>
          </p:cNvPr>
          <p:cNvSpPr>
            <a:spLocks noGrp="1"/>
          </p:cNvSpPr>
          <p:nvPr>
            <p:ph idx="1"/>
          </p:nvPr>
        </p:nvSpPr>
        <p:spPr>
          <a:xfrm>
            <a:off x="6477270" y="1130846"/>
            <a:ext cx="4974771" cy="4351338"/>
          </a:xfrm>
        </p:spPr>
        <p:txBody>
          <a:bodyPr>
            <a:normAutofit/>
          </a:bodyPr>
          <a:lstStyle/>
          <a:p>
            <a:pPr marL="514350" indent="-514350">
              <a:buFont typeface="+mj-lt"/>
              <a:buAutoNum type="arabicPeriod"/>
            </a:pPr>
            <a:r>
              <a:rPr lang="en-US" sz="1800">
                <a:solidFill>
                  <a:schemeClr val="bg1"/>
                </a:solidFill>
              </a:rPr>
              <a:t>How many incidents of Trafficking were reported in the United States in the last few years (2015  2018)?</a:t>
            </a:r>
          </a:p>
          <a:p>
            <a:pPr marL="514350" indent="-514350">
              <a:buFont typeface="+mj-lt"/>
              <a:buAutoNum type="arabicPeriod"/>
            </a:pPr>
            <a:r>
              <a:rPr lang="en-US" sz="1800">
                <a:solidFill>
                  <a:schemeClr val="bg1"/>
                </a:solidFill>
              </a:rPr>
              <a:t>What is the ratio of male to female victims?</a:t>
            </a:r>
          </a:p>
          <a:p>
            <a:pPr marL="514350" indent="-514350">
              <a:buFont typeface="+mj-lt"/>
              <a:buAutoNum type="arabicPeriod"/>
            </a:pPr>
            <a:r>
              <a:rPr lang="en-US" sz="1800">
                <a:solidFill>
                  <a:schemeClr val="bg1"/>
                </a:solidFill>
              </a:rPr>
              <a:t>The most common type of human trafficking the United States?</a:t>
            </a:r>
          </a:p>
          <a:p>
            <a:pPr marL="514350" indent="-514350">
              <a:buFont typeface="+mj-lt"/>
              <a:buAutoNum type="arabicPeriod"/>
            </a:pPr>
            <a:r>
              <a:rPr lang="en-US" sz="1800">
                <a:solidFill>
                  <a:schemeClr val="bg1"/>
                </a:solidFill>
              </a:rPr>
              <a:t>The most common type of control in human trafficking in the United States? </a:t>
            </a:r>
          </a:p>
          <a:p>
            <a:pPr marL="514350" indent="-514350">
              <a:buFont typeface="+mj-lt"/>
              <a:buAutoNum type="arabicPeriod"/>
            </a:pPr>
            <a:r>
              <a:rPr lang="en-US" sz="1800">
                <a:solidFill>
                  <a:schemeClr val="bg1"/>
                </a:solidFill>
              </a:rPr>
              <a:t>Is there a correlation between forced labor and sexual exploitation?</a:t>
            </a:r>
          </a:p>
          <a:p>
            <a:pPr marL="514350" indent="-514350">
              <a:buFont typeface="+mj-lt"/>
              <a:buAutoNum type="arabicPeriod"/>
            </a:pPr>
            <a:r>
              <a:rPr lang="en-US" sz="1800">
                <a:solidFill>
                  <a:schemeClr val="bg1"/>
                </a:solidFill>
              </a:rPr>
              <a:t>The age group most affected by human trafficking?</a:t>
            </a:r>
          </a:p>
          <a:p>
            <a:pPr marL="514350" indent="-514350">
              <a:buFont typeface="+mj-lt"/>
              <a:buAutoNum type="arabicPeriod"/>
            </a:pPr>
            <a:r>
              <a:rPr lang="en-US" sz="1800">
                <a:solidFill>
                  <a:schemeClr val="bg1"/>
                </a:solidFill>
              </a:rPr>
              <a:t>Are victims most likely to be related to their abusers?</a:t>
            </a:r>
          </a:p>
        </p:txBody>
      </p:sp>
    </p:spTree>
    <p:extLst>
      <p:ext uri="{BB962C8B-B14F-4D97-AF65-F5344CB8AC3E}">
        <p14:creationId xmlns:p14="http://schemas.microsoft.com/office/powerpoint/2010/main" val="418486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50" name="Freeform: Shape 16">
            <a:extLst>
              <a:ext uri="{FF2B5EF4-FFF2-40B4-BE49-F238E27FC236}">
                <a16:creationId xmlns:a16="http://schemas.microsoft.com/office/drawing/2014/main" id="{31CE7A08-2184-4B99-ABC0-B40CD1D3F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E70B6AD6-6BE7-4AFB-8E73-C540A4F9D302}"/>
              </a:ext>
            </a:extLst>
          </p:cNvPr>
          <p:cNvSpPr>
            <a:spLocks noGrp="1"/>
          </p:cNvSpPr>
          <p:nvPr>
            <p:ph type="title"/>
          </p:nvPr>
        </p:nvSpPr>
        <p:spPr>
          <a:xfrm>
            <a:off x="1102368" y="3306515"/>
            <a:ext cx="3826286" cy="3215373"/>
          </a:xfrm>
        </p:spPr>
        <p:txBody>
          <a:bodyPr>
            <a:normAutofit/>
          </a:bodyPr>
          <a:lstStyle/>
          <a:p>
            <a:pPr algn="ctr"/>
            <a:r>
              <a:rPr lang="en-US">
                <a:solidFill>
                  <a:schemeClr val="bg1"/>
                </a:solidFill>
              </a:rPr>
              <a:t>Variables</a:t>
            </a:r>
          </a:p>
        </p:txBody>
      </p:sp>
      <p:sp>
        <p:nvSpPr>
          <p:cNvPr id="19" name="Freeform: Shape 18">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1" name="Freeform: Shape 20">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3" name="Freeform: Shape 22">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Freeform: Shape 24">
            <a:extLst>
              <a:ext uri="{FF2B5EF4-FFF2-40B4-BE49-F238E27FC236}">
                <a16:creationId xmlns:a16="http://schemas.microsoft.com/office/drawing/2014/main" id="{2552FC29-9118-466F-940E-80C84EFDF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 name="Content Placeholder 2">
            <a:extLst>
              <a:ext uri="{FF2B5EF4-FFF2-40B4-BE49-F238E27FC236}">
                <a16:creationId xmlns:a16="http://schemas.microsoft.com/office/drawing/2014/main" id="{60F36347-692E-40C7-A570-F2EBC4BBC3FA}"/>
              </a:ext>
            </a:extLst>
          </p:cNvPr>
          <p:cNvSpPr>
            <a:spLocks noGrp="1"/>
          </p:cNvSpPr>
          <p:nvPr>
            <p:ph idx="1"/>
          </p:nvPr>
        </p:nvSpPr>
        <p:spPr>
          <a:xfrm>
            <a:off x="5211448" y="706508"/>
            <a:ext cx="5217173" cy="4351338"/>
          </a:xfrm>
        </p:spPr>
        <p:txBody>
          <a:bodyPr>
            <a:normAutofit lnSpcReduction="10000"/>
          </a:bodyPr>
          <a:lstStyle/>
          <a:p>
            <a:pPr marL="0" indent="0">
              <a:buNone/>
            </a:pPr>
            <a:r>
              <a:rPr lang="en-US" sz="1800" dirty="0">
                <a:solidFill>
                  <a:schemeClr val="bg1"/>
                </a:solidFill>
              </a:rPr>
              <a:t>Our dataset includes a large number of variables, most of which are used in our analysis. In the context of this presentation, we will only show just a few.</a:t>
            </a:r>
          </a:p>
          <a:p>
            <a:pPr lvl="1">
              <a:buFontTx/>
              <a:buChar char="-"/>
            </a:pPr>
            <a:r>
              <a:rPr lang="en-US" sz="1800" dirty="0">
                <a:solidFill>
                  <a:schemeClr val="bg1"/>
                </a:solidFill>
              </a:rPr>
              <a:t>gender: describes the gender of the victim, either male or female.</a:t>
            </a:r>
          </a:p>
          <a:p>
            <a:pPr lvl="1">
              <a:buFontTx/>
              <a:buChar char="-"/>
            </a:pPr>
            <a:r>
              <a:rPr lang="en-US" sz="1800" dirty="0" err="1">
                <a:solidFill>
                  <a:schemeClr val="bg1"/>
                </a:solidFill>
              </a:rPr>
              <a:t>ageBroad</a:t>
            </a:r>
            <a:r>
              <a:rPr lang="en-US" sz="1800" dirty="0">
                <a:solidFill>
                  <a:schemeClr val="bg1"/>
                </a:solidFill>
              </a:rPr>
              <a:t>: describes the age group of the victim.</a:t>
            </a:r>
          </a:p>
          <a:p>
            <a:pPr lvl="1">
              <a:buFontTx/>
              <a:buChar char="-"/>
            </a:pPr>
            <a:r>
              <a:rPr lang="en-US" sz="1800" dirty="0" err="1">
                <a:solidFill>
                  <a:schemeClr val="bg1"/>
                </a:solidFill>
              </a:rPr>
              <a:t>meansOfControl</a:t>
            </a:r>
            <a:r>
              <a:rPr lang="en-US" sz="1800" dirty="0">
                <a:solidFill>
                  <a:schemeClr val="bg1"/>
                </a:solidFill>
              </a:rPr>
              <a:t>*</a:t>
            </a:r>
            <a:r>
              <a:rPr lang="en-US" sz="1800" cap="all" baseline="30000" dirty="0">
                <a:solidFill>
                  <a:schemeClr val="bg1"/>
                </a:solidFill>
              </a:rPr>
              <a:t>1</a:t>
            </a:r>
            <a:r>
              <a:rPr lang="en-US" sz="1800" dirty="0">
                <a:solidFill>
                  <a:schemeClr val="bg1"/>
                </a:solidFill>
              </a:rPr>
              <a:t>: describes the means used by the trafficker to keep their victims under control.</a:t>
            </a:r>
          </a:p>
          <a:p>
            <a:pPr lvl="1">
              <a:buFontTx/>
              <a:buChar char="-"/>
            </a:pPr>
            <a:r>
              <a:rPr lang="en-US" sz="1800" dirty="0" err="1">
                <a:solidFill>
                  <a:schemeClr val="bg1"/>
                </a:solidFill>
              </a:rPr>
              <a:t>recruiterRelation</a:t>
            </a:r>
            <a:r>
              <a:rPr lang="en-US" sz="1800" dirty="0">
                <a:solidFill>
                  <a:schemeClr val="bg1"/>
                </a:solidFill>
              </a:rPr>
              <a:t>*</a:t>
            </a:r>
            <a:r>
              <a:rPr lang="en-US" sz="1800" cap="small" baseline="30000" dirty="0">
                <a:solidFill>
                  <a:schemeClr val="bg1"/>
                </a:solidFill>
              </a:rPr>
              <a:t>1</a:t>
            </a:r>
            <a:r>
              <a:rPr lang="en-US" sz="1800" dirty="0">
                <a:solidFill>
                  <a:schemeClr val="bg1"/>
                </a:solidFill>
              </a:rPr>
              <a:t>: describes the relation of the victim with the trafficker.</a:t>
            </a:r>
          </a:p>
          <a:p>
            <a:pPr lvl="1">
              <a:buFontTx/>
              <a:buChar char="-"/>
            </a:pPr>
            <a:r>
              <a:rPr lang="en-US" sz="1800" dirty="0" err="1">
                <a:solidFill>
                  <a:schemeClr val="bg1"/>
                </a:solidFill>
              </a:rPr>
              <a:t>isForcedLabour</a:t>
            </a:r>
            <a:r>
              <a:rPr lang="en-US" sz="1800" dirty="0">
                <a:solidFill>
                  <a:schemeClr val="bg1"/>
                </a:solidFill>
              </a:rPr>
              <a:t>: describes whether the victim is forced to work against their will.</a:t>
            </a:r>
          </a:p>
          <a:p>
            <a:pPr lvl="1">
              <a:buFontTx/>
              <a:buChar char="-"/>
            </a:pPr>
            <a:r>
              <a:rPr lang="en-US" sz="1800" dirty="0" err="1">
                <a:solidFill>
                  <a:schemeClr val="bg1"/>
                </a:solidFill>
              </a:rPr>
              <a:t>isSexualExploit</a:t>
            </a:r>
            <a:r>
              <a:rPr lang="en-US" sz="1800" dirty="0">
                <a:solidFill>
                  <a:schemeClr val="bg1"/>
                </a:solidFill>
              </a:rPr>
              <a:t>: describes whether the victim is exploited sexually against their will.</a:t>
            </a:r>
          </a:p>
          <a:p>
            <a:pPr lvl="1">
              <a:buFontTx/>
              <a:buChar char="-"/>
            </a:pPr>
            <a:endParaRPr lang="en-US" sz="1300" dirty="0">
              <a:solidFill>
                <a:schemeClr val="bg1"/>
              </a:solidFill>
            </a:endParaRPr>
          </a:p>
        </p:txBody>
      </p:sp>
      <p:sp>
        <p:nvSpPr>
          <p:cNvPr id="8" name="Footer Placeholder 7">
            <a:extLst>
              <a:ext uri="{FF2B5EF4-FFF2-40B4-BE49-F238E27FC236}">
                <a16:creationId xmlns:a16="http://schemas.microsoft.com/office/drawing/2014/main" id="{E12AB569-5336-4462-9980-569C0D481179}"/>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chemeClr val="bg1"/>
                </a:solidFill>
              </a:rPr>
              <a:t>1. A group of variables falling under the same category.</a:t>
            </a:r>
          </a:p>
        </p:txBody>
      </p:sp>
      <p:grpSp>
        <p:nvGrpSpPr>
          <p:cNvPr id="27"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8" name="Freeform: Shape 27">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13039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2" name="Freeform: Shape 11">
            <a:extLst>
              <a:ext uri="{FF2B5EF4-FFF2-40B4-BE49-F238E27FC236}">
                <a16:creationId xmlns:a16="http://schemas.microsoft.com/office/drawing/2014/main" id="{31CE7A08-2184-4B99-ABC0-B40CD1D3F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2D0F9F30-75F1-455D-A770-B5C4852D7490}"/>
              </a:ext>
            </a:extLst>
          </p:cNvPr>
          <p:cNvSpPr>
            <a:spLocks noGrp="1"/>
          </p:cNvSpPr>
          <p:nvPr>
            <p:ph type="title"/>
          </p:nvPr>
        </p:nvSpPr>
        <p:spPr>
          <a:xfrm>
            <a:off x="1102368" y="3306515"/>
            <a:ext cx="3826286" cy="3215373"/>
          </a:xfrm>
        </p:spPr>
        <p:txBody>
          <a:bodyPr>
            <a:normAutofit/>
          </a:bodyPr>
          <a:lstStyle/>
          <a:p>
            <a:pPr algn="ctr"/>
            <a:r>
              <a:rPr lang="en-US">
                <a:solidFill>
                  <a:schemeClr val="bg1"/>
                </a:solidFill>
              </a:rPr>
              <a:t>Approach</a:t>
            </a:r>
          </a:p>
        </p:txBody>
      </p:sp>
      <p:sp>
        <p:nvSpPr>
          <p:cNvPr id="14" name="Freeform: Shape 13">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2552FC29-9118-466F-940E-80C84EFDF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 name="Content Placeholder 2">
            <a:extLst>
              <a:ext uri="{FF2B5EF4-FFF2-40B4-BE49-F238E27FC236}">
                <a16:creationId xmlns:a16="http://schemas.microsoft.com/office/drawing/2014/main" id="{1FE2F515-78B2-4390-A785-89199EB69EDF}"/>
              </a:ext>
            </a:extLst>
          </p:cNvPr>
          <p:cNvSpPr>
            <a:spLocks noGrp="1"/>
          </p:cNvSpPr>
          <p:nvPr>
            <p:ph idx="1"/>
          </p:nvPr>
        </p:nvSpPr>
        <p:spPr>
          <a:xfrm>
            <a:off x="5211448" y="706508"/>
            <a:ext cx="5217173" cy="4351338"/>
          </a:xfrm>
        </p:spPr>
        <p:txBody>
          <a:bodyPr>
            <a:normAutofit/>
          </a:bodyPr>
          <a:lstStyle/>
          <a:p>
            <a:r>
              <a:rPr lang="en-US" dirty="0">
                <a:solidFill>
                  <a:schemeClr val="bg1"/>
                </a:solidFill>
              </a:rPr>
              <a:t>Clean the data – selecting US only data and removing invalid and Nan entries</a:t>
            </a:r>
          </a:p>
          <a:p>
            <a:r>
              <a:rPr lang="en-US" dirty="0">
                <a:solidFill>
                  <a:schemeClr val="bg1"/>
                </a:solidFill>
              </a:rPr>
              <a:t>Perform exploratory analysis to gain insights from our data</a:t>
            </a:r>
          </a:p>
          <a:p>
            <a:r>
              <a:rPr lang="en-US" dirty="0">
                <a:solidFill>
                  <a:schemeClr val="bg1"/>
                </a:solidFill>
              </a:rPr>
              <a:t>Use visualizations (plots and diagrams) to illustrate our findings</a:t>
            </a:r>
          </a:p>
          <a:p>
            <a:r>
              <a:rPr lang="en-US" dirty="0">
                <a:solidFill>
                  <a:schemeClr val="bg1"/>
                </a:solidFill>
              </a:rPr>
              <a:t>Respond to our project questions</a:t>
            </a:r>
          </a:p>
          <a:p>
            <a:endParaRPr lang="en-US" dirty="0">
              <a:solidFill>
                <a:schemeClr val="bg1"/>
              </a:solidFill>
            </a:endParaRPr>
          </a:p>
        </p:txBody>
      </p:sp>
      <p:grpSp>
        <p:nvGrpSpPr>
          <p:cNvPr id="22"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3" name="Freeform: Shape 22">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544322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8615EE-15B8-4689-AA5A-C10293AE10FD}"/>
              </a:ext>
            </a:extLst>
          </p:cNvPr>
          <p:cNvSpPr>
            <a:spLocks noGrp="1"/>
          </p:cNvSpPr>
          <p:nvPr>
            <p:ph type="title"/>
          </p:nvPr>
        </p:nvSpPr>
        <p:spPr>
          <a:xfrm>
            <a:off x="838200" y="1748452"/>
            <a:ext cx="4974771" cy="3587786"/>
          </a:xfrm>
        </p:spPr>
        <p:txBody>
          <a:bodyPr>
            <a:normAutofit/>
          </a:bodyPr>
          <a:lstStyle/>
          <a:p>
            <a:pPr algn="ctr"/>
            <a:r>
              <a:rPr lang="en-US">
                <a:solidFill>
                  <a:schemeClr val="bg1"/>
                </a:solidFill>
              </a:rPr>
              <a:t>Results</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Content Placeholder 2">
            <a:extLst>
              <a:ext uri="{FF2B5EF4-FFF2-40B4-BE49-F238E27FC236}">
                <a16:creationId xmlns:a16="http://schemas.microsoft.com/office/drawing/2014/main" id="{FB25B9DB-EB15-4FD5-BAC8-B476CC97B7FA}"/>
              </a:ext>
            </a:extLst>
          </p:cNvPr>
          <p:cNvSpPr>
            <a:spLocks noGrp="1"/>
          </p:cNvSpPr>
          <p:nvPr>
            <p:ph idx="1"/>
          </p:nvPr>
        </p:nvSpPr>
        <p:spPr>
          <a:xfrm>
            <a:off x="6477270" y="1130846"/>
            <a:ext cx="4974771" cy="4351338"/>
          </a:xfrm>
        </p:spPr>
        <p:txBody>
          <a:bodyPr>
            <a:normAutofit/>
          </a:bodyPr>
          <a:lstStyle/>
          <a:p>
            <a:r>
              <a:rPr lang="en-US" sz="2200">
                <a:solidFill>
                  <a:schemeClr val="bg1"/>
                </a:solidFill>
              </a:rPr>
              <a:t>Female are by far the most affected by human trafficking</a:t>
            </a:r>
          </a:p>
          <a:p>
            <a:r>
              <a:rPr lang="en-US" sz="2200">
                <a:solidFill>
                  <a:schemeClr val="bg1"/>
                </a:solidFill>
              </a:rPr>
              <a:t>Sexual exploitation is the most common form of human trafficking</a:t>
            </a:r>
          </a:p>
          <a:p>
            <a:r>
              <a:rPr lang="en-US" sz="2200">
                <a:solidFill>
                  <a:schemeClr val="bg1"/>
                </a:solidFill>
              </a:rPr>
              <a:t>Human trafficking in on the rise in the United States</a:t>
            </a:r>
          </a:p>
          <a:p>
            <a:r>
              <a:rPr lang="en-US" sz="2200">
                <a:solidFill>
                  <a:schemeClr val="bg1"/>
                </a:solidFill>
              </a:rPr>
              <a:t>People between the age of 9 to 17 are the most affected</a:t>
            </a:r>
          </a:p>
          <a:p>
            <a:r>
              <a:rPr lang="en-US" sz="2200">
                <a:solidFill>
                  <a:schemeClr val="bg1"/>
                </a:solidFill>
              </a:rPr>
              <a:t>Based on the provided date nearly 30% of victims are related to their traffickers.</a:t>
            </a:r>
          </a:p>
          <a:p>
            <a:r>
              <a:rPr lang="en-US" sz="2200">
                <a:solidFill>
                  <a:schemeClr val="bg1"/>
                </a:solidFill>
              </a:rPr>
              <a:t>There is a negative correlation between sexual exploitation and forced labor.</a:t>
            </a:r>
          </a:p>
          <a:p>
            <a:endParaRPr lang="en-US" sz="2200">
              <a:solidFill>
                <a:schemeClr val="bg1"/>
              </a:solidFill>
            </a:endParaRPr>
          </a:p>
        </p:txBody>
      </p:sp>
    </p:spTree>
    <p:extLst>
      <p:ext uri="{BB962C8B-B14F-4D97-AF65-F5344CB8AC3E}">
        <p14:creationId xmlns:p14="http://schemas.microsoft.com/office/powerpoint/2010/main" val="3164842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695</TotalTime>
  <Words>448</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Human Trafficking in the United States</vt:lpstr>
      <vt:lpstr>PowerPoint Presentation</vt:lpstr>
      <vt:lpstr>Questions</vt:lpstr>
      <vt:lpstr>Variables</vt:lpstr>
      <vt:lpstr>Approach</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Trafficking in the United States</dc:title>
  <dc:creator>Shakespeare Jean Gilles</dc:creator>
  <cp:lastModifiedBy>Shakespeare Jean Gilles</cp:lastModifiedBy>
  <cp:revision>15</cp:revision>
  <dcterms:created xsi:type="dcterms:W3CDTF">2021-03-03T20:50:20Z</dcterms:created>
  <dcterms:modified xsi:type="dcterms:W3CDTF">2021-03-07T18:08:33Z</dcterms:modified>
</cp:coreProperties>
</file>